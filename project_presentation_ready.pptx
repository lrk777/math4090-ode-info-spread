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|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680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191F28"/>
                </a:solidFill>
              </a:defRPr>
            </a:pPr>
            <a:r>
              <a:t>Multi-Exposure Modelling of Information Spread Through Social Media Reposting</a:t>
            </a:r>
          </a:p>
          <a:p>
            <a:pPr>
              <a:defRPr sz="2000">
                <a:solidFill>
                  <a:srgbClr val="464E5A"/>
                </a:solidFill>
              </a:defRPr>
            </a:pPr>
            <a:r>
              <a:t>Lavanya Kumar</a:t>
            </a:r>
          </a:p>
          <a:p>
            <a:pPr>
              <a:defRPr sz="1600">
                <a:solidFill>
                  <a:srgbClr val="5A626E"/>
                </a:solidFill>
              </a:defRPr>
            </a:pPr>
            <a:r>
              <a:t>Designed for a 12-minute talk plus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17320"/>
            <a:ext cx="3474720" cy="2606040"/>
          </a:xfrm>
          <a:prstGeom prst="roundRect">
            <a:avLst/>
          </a:prstGeom>
          <a:solidFill>
            <a:srgbClr val="E8F0FE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Presentation focus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Why repeated exposure matters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How the ODE model is built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What the simulations show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What remains for the final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554480" cy="1097280"/>
          </a:xfrm>
          <a:prstGeom prst="roundRect">
            <a:avLst/>
          </a:prstGeom>
          <a:solidFill>
            <a:srgbClr val="DCEAFF"/>
          </a:solidFill>
          <a:ln>
            <a:solidFill>
              <a:srgbClr val="6E7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731"/>
                </a:solidFill>
              </a:rPr>
              <a:t>I0
Not yet exposed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2258568"/>
            <a:ext cx="502920" cy="457200"/>
          </a:xfrm>
          <a:prstGeom prst="chevron">
            <a:avLst/>
          </a:prstGeom>
          <a:solidFill>
            <a:srgbClr val="A0B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1554480" cy="1097280"/>
          </a:xfrm>
          <a:prstGeom prst="roundRect">
            <a:avLst/>
          </a:prstGeom>
          <a:solidFill>
            <a:srgbClr val="DCEAFF"/>
          </a:solidFill>
          <a:ln>
            <a:solidFill>
              <a:srgbClr val="6E7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731"/>
                </a:solidFill>
              </a:rPr>
              <a:t>I1
One exposure</a:t>
            </a:r>
          </a:p>
        </p:txBody>
      </p:sp>
      <p:sp>
        <p:nvSpPr>
          <p:cNvPr id="9" name="Chevron 8"/>
          <p:cNvSpPr/>
          <p:nvPr/>
        </p:nvSpPr>
        <p:spPr>
          <a:xfrm>
            <a:off x="4389120" y="2258568"/>
            <a:ext cx="502920" cy="457200"/>
          </a:xfrm>
          <a:prstGeom prst="chevron">
            <a:avLst/>
          </a:prstGeom>
          <a:solidFill>
            <a:srgbClr val="A0B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2011680"/>
            <a:ext cx="1554480" cy="1097280"/>
          </a:xfrm>
          <a:prstGeom prst="roundRect">
            <a:avLst/>
          </a:prstGeom>
          <a:solidFill>
            <a:srgbClr val="DCEAFF"/>
          </a:solidFill>
          <a:ln>
            <a:solidFill>
              <a:srgbClr val="6E7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731"/>
                </a:solidFill>
              </a:rPr>
              <a:t>I2
Two exposures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2258568"/>
            <a:ext cx="502920" cy="457200"/>
          </a:xfrm>
          <a:prstGeom prst="chevron">
            <a:avLst/>
          </a:prstGeom>
          <a:solidFill>
            <a:srgbClr val="A0B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0" y="2011680"/>
            <a:ext cx="1554480" cy="1097280"/>
          </a:xfrm>
          <a:prstGeom prst="roundRect">
            <a:avLst/>
          </a:prstGeom>
          <a:solidFill>
            <a:srgbClr val="DEF5E5"/>
          </a:solidFill>
          <a:ln>
            <a:solidFill>
              <a:srgbClr val="6E7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731"/>
                </a:solidFill>
              </a:rPr>
              <a:t>S
Sharers</a:t>
            </a:r>
          </a:p>
        </p:txBody>
      </p:sp>
      <p:sp>
        <p:nvSpPr>
          <p:cNvPr id="13" name="Chevron 12"/>
          <p:cNvSpPr/>
          <p:nvPr/>
        </p:nvSpPr>
        <p:spPr>
          <a:xfrm>
            <a:off x="8778240" y="2258568"/>
            <a:ext cx="502920" cy="457200"/>
          </a:xfrm>
          <a:prstGeom prst="chevron">
            <a:avLst/>
          </a:prstGeom>
          <a:solidFill>
            <a:srgbClr val="A0B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1554480" cy="1097280"/>
          </a:xfrm>
          <a:prstGeom prst="roundRect">
            <a:avLst/>
          </a:prstGeom>
          <a:solidFill>
            <a:srgbClr val="FCE8E6"/>
          </a:solidFill>
          <a:ln>
            <a:solidFill>
              <a:srgbClr val="6E7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2731"/>
                </a:solidFill>
              </a:rPr>
              <a:t>R
Saturated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1. Motivation and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Why this problem is interesting and where it fits in the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731"/>
                </a:solidFill>
              </a:defRPr>
            </a:pPr>
            <a:r>
              <a:t>On platforms such as Instagram, users often encounter the same content more than once before deciding whether to repost it.</a:t>
            </a:r>
          </a:p>
          <a:p>
            <a:pPr>
              <a:spcAft>
                <a:spcPts val="1200"/>
              </a:spcAft>
              <a:defRPr sz="2000">
                <a:solidFill>
                  <a:srgbClr val="202731"/>
                </a:solidFill>
              </a:defRPr>
            </a:pPr>
            <a:r>
              <a:t>That means information spread can depend on accumulated exposure, not only on a one-time contact.</a:t>
            </a:r>
          </a:p>
          <a:p>
            <a:pPr>
              <a:spcAft>
                <a:spcPts val="1200"/>
              </a:spcAft>
              <a:defRPr sz="2000">
                <a:solidFill>
                  <a:srgbClr val="202731"/>
                </a:solidFill>
              </a:defRPr>
            </a:pPr>
            <a:r>
              <a:t>Classical rumor and epidemic-style models describe spreaders and non-spreaders, but they usually do not track repeated exposure explicitly.</a:t>
            </a:r>
          </a:p>
          <a:p>
            <a:pPr>
              <a:spcAft>
                <a:spcPts val="1200"/>
              </a:spcAft>
              <a:defRPr sz="2000">
                <a:solidFill>
                  <a:srgbClr val="202731"/>
                </a:solidFill>
              </a:defRPr>
            </a:pPr>
            <a:r>
              <a:t>This project adds a multi-exposure structure while keeping the model mathematically tractable.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47472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Related modelling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Rumor models: spreaders and stiflers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Threshold models: adoption after sufficient influence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Complex contagion: reinforcement through repeated exposure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My model: ODE framework with explicit exposure classes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2. Compartments, Parameters,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Model ingredients stated before the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72237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485775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02731"/>
                          </a:solidFill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02731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02731"/>
                          </a:solidFill>
                        </a:defRPr>
                      </a:pPr>
                      <a:r>
                        <a:t>Where it appears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I0, I1, I2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Exposure classes before sharing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State variables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Active sharers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Drives lambda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Saturated users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Collects users leaving spread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Repost intensity / visibility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lambda = beta S / N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gamma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Rate sharers stop sharing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dS/dt and dR/dt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rho_i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Probability of sharing at exposure i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Inflow into S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sigma_i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Probability of saturation at exposure i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Inflow into R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1325880"/>
            <a:ext cx="3474720" cy="4206240"/>
          </a:xfrm>
          <a:prstGeom prst="roundRect">
            <a:avLst/>
          </a:prstGeom>
          <a:solidFill>
            <a:srgbClr val="FFF7EB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Assumptions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Population is fixed: I0 + I1 + I2 + S + R = N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Exposure rate is mean-field: lambda(t) = beta S(t)/N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At each exposure, a user can share, saturate, or move forward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Condition: 0 &lt;= rho_i, sigma_i &lt;= 1 and rho_i + sigma_i &lt;=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3. Governing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The key point is how the exposure chain feeds into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040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202731"/>
                </a:solidFill>
              </a:defRPr>
            </a:pPr>
            <a:r>
              <a:t>lambda(t) = beta S(t) / N</a:t>
            </a:r>
          </a:p>
          <a:p>
            <a:pPr>
              <a:spcAft>
                <a:spcPts val="1000"/>
              </a:spcAft>
              <a:defRPr sz="1800" b="0">
                <a:solidFill>
                  <a:srgbClr val="202731"/>
                </a:solidFill>
              </a:defRPr>
            </a:pPr>
            <a:r>
              <a:t>dI0/dt = - lambda I0</a:t>
            </a:r>
          </a:p>
          <a:p>
            <a:pPr>
              <a:spcAft>
                <a:spcPts val="1000"/>
              </a:spcAft>
              <a:defRPr sz="1800" b="0">
                <a:solidFill>
                  <a:srgbClr val="202731"/>
                </a:solidFill>
              </a:defRPr>
            </a:pPr>
            <a:r>
              <a:t>dI1/dt = (1-rho0-sigma0) lambda I0 - lambda I1</a:t>
            </a:r>
          </a:p>
          <a:p>
            <a:pPr>
              <a:spcAft>
                <a:spcPts val="1000"/>
              </a:spcAft>
              <a:defRPr sz="1800" b="0">
                <a:solidFill>
                  <a:srgbClr val="202731"/>
                </a:solidFill>
              </a:defRPr>
            </a:pPr>
            <a:r>
              <a:t>dI2/dt = (1-rho1-sigma1) lambda I1 - (rho2+sigma2) lambda I2</a:t>
            </a:r>
          </a:p>
          <a:p>
            <a:pPr>
              <a:spcAft>
                <a:spcPts val="1000"/>
              </a:spcAft>
              <a:defRPr sz="1800" b="0">
                <a:solidFill>
                  <a:srgbClr val="202731"/>
                </a:solidFill>
              </a:defRPr>
            </a:pPr>
            <a:r>
              <a:t>dS/dt = rho0 lambda I0 + rho1 lambda I1 + rho2 lambda I2 - gamma S</a:t>
            </a:r>
          </a:p>
          <a:p>
            <a:pPr>
              <a:spcAft>
                <a:spcPts val="1000"/>
              </a:spcAft>
              <a:defRPr sz="1800" b="0">
                <a:solidFill>
                  <a:srgbClr val="202731"/>
                </a:solidFill>
              </a:defRPr>
            </a:pPr>
            <a:r>
              <a:t>dR/dt = sigma0 lambda I0 + sigma1 lambda I1 + sigma2 lambda I2 + gamma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474720" cy="2240280"/>
          </a:xfrm>
          <a:prstGeom prst="roundRect">
            <a:avLst/>
          </a:prstGeom>
          <a:solidFill>
            <a:srgbClr val="E8F0FE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How to explain I0 -&gt; I1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Users in I0 are exposed at rate lambda I0.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If they neither share nor saturate after that exposure, they move to I1.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That is why the inflow into I1 is (1-rho0-sigma0) lambda I0.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886200"/>
            <a:ext cx="3474720" cy="1645920"/>
          </a:xfrm>
          <a:prstGeom prst="roundRect">
            <a:avLst/>
          </a:prstGeom>
          <a:solidFill>
            <a:srgbClr val="E8F5E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Interpretation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beta makes exposure stronger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gamma removes current sharers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rho_i promotes growth of 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sigma_i removes users from further spreading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4. Equilibria and Local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Professor feedback addressed: equilibrium first, then Jacobian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040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02731"/>
                </a:solidFill>
              </a:defRPr>
            </a:pPr>
            <a:r>
              <a:t>Disease-free equilibrium: (I0, I1, I2, S) = (N, 0, 0, 0), with R = 0.</a:t>
            </a:r>
          </a:p>
          <a:p>
            <a:pPr>
              <a:spcAft>
                <a:spcPts val="1200"/>
              </a:spcAft>
              <a:defRPr sz="1900">
                <a:solidFill>
                  <a:srgbClr val="202731"/>
                </a:solidFill>
              </a:defRPr>
            </a:pPr>
            <a:r>
              <a:t>Interpretation: nobody is sharing, so no new exposures occur.</a:t>
            </a:r>
          </a:p>
          <a:p>
            <a:pPr>
              <a:spcAft>
                <a:spcPts val="1200"/>
              </a:spcAft>
              <a:defRPr sz="1900">
                <a:solidFill>
                  <a:srgbClr val="202731"/>
                </a:solidFill>
              </a:defRPr>
            </a:pPr>
            <a:r>
              <a:t>Burned-out equilibrium: (I0, I1, I2, S) = (0, 0, 0, 0), with R = N.</a:t>
            </a:r>
          </a:p>
          <a:p>
            <a:pPr>
              <a:spcAft>
                <a:spcPts val="1200"/>
              </a:spcAft>
              <a:defRPr sz="1900">
                <a:solidFill>
                  <a:srgbClr val="202731"/>
                </a:solidFill>
              </a:defRPr>
            </a:pPr>
            <a:r>
              <a:t>Interpretation: the content has fully died out and everyone is in 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731"/>
                </a:solidFill>
              </a:defRPr>
            </a:pPr>
            <a:r>
              <a:t>J(E0) = [[0,0,0,-beta], [0,0,0,(1-rho0-sigma0)beta], [0,0,0,0], [0,0,0,rho0 beta-gamma]]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474720" cy="1965960"/>
          </a:xfrm>
          <a:prstGeom prst="roundRect">
            <a:avLst/>
          </a:prstGeom>
          <a:solidFill>
            <a:srgbClr val="FFF7EB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Crucial clarification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At the disease-free equilibrium, I0 = N.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This is not the same as the simulation start.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In simulations, I use a seed such as S(0)=15, so I0(0)=985.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611880"/>
            <a:ext cx="3474720" cy="1965960"/>
          </a:xfrm>
          <a:prstGeom prst="roundRect">
            <a:avLst/>
          </a:prstGeom>
          <a:solidFill>
            <a:srgbClr val="E8F0FE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Sign checks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dI0/dt = -lambda I0 &lt;= 0, so I0 never increases.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dR/dt &gt;= 0, so R never decreases.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The key local sign is rho0 beta - gamma.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Negative: tiny sharing dies out. Positive: tiny sharing can grow initially.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5. Simulation Setup and Main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Three scenarios: viral, moderate, and fizzle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291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731"/>
                </a:solidFill>
              </a:defRPr>
            </a:pPr>
            <a:r>
              <a:t>m = 2, N = 1000</a:t>
            </a:r>
          </a:p>
          <a:p>
            <a:pPr>
              <a:spcAft>
                <a:spcPts val="1000"/>
              </a:spcAft>
              <a:defRPr sz="1900">
                <a:solidFill>
                  <a:srgbClr val="202731"/>
                </a:solidFill>
              </a:defRPr>
            </a:pPr>
            <a:r>
              <a:t>Initial seed: S(0) = 15</a:t>
            </a:r>
          </a:p>
          <a:p>
            <a:pPr>
              <a:spcAft>
                <a:spcPts val="1000"/>
              </a:spcAft>
              <a:defRPr sz="1900">
                <a:solidFill>
                  <a:srgbClr val="202731"/>
                </a:solidFill>
              </a:defRPr>
            </a:pPr>
            <a:r>
              <a:t>I0(0) = 985, I1(0) = I2(0) = 0, R(0) = 0</a:t>
            </a:r>
          </a:p>
          <a:p>
            <a:pPr>
              <a:spcAft>
                <a:spcPts val="1000"/>
              </a:spcAft>
              <a:defRPr sz="1900">
                <a:solidFill>
                  <a:srgbClr val="202731"/>
                </a:solidFill>
              </a:defRPr>
            </a:pPr>
            <a:r>
              <a:t>Integrated over t in [0, 120]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834640"/>
          <a:ext cx="7132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02731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02731"/>
                          </a:solidFill>
                        </a:defRPr>
                      </a:pPr>
                      <a:r>
                        <a:t>Peak S(t)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02731"/>
                          </a:solidFill>
                        </a:defRPr>
                      </a:pPr>
                      <a:r>
                        <a:t>Time to peak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02731"/>
                          </a:solidFill>
                        </a:defRPr>
                      </a:pPr>
                      <a:r>
                        <a:t>R(120)</a:t>
                      </a:r>
                    </a:p>
                  </a:txBody>
                  <a:tcPr>
                    <a:solidFill>
                      <a:srgbClr val="E1EB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Viral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321.66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51.29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981.56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171.51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114.39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593.46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Fizzle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15.00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02731"/>
                          </a:solidFill>
                        </a:defRPr>
                      </a:pPr>
                      <a:r>
                        <a:t>15.41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38160" y="1325880"/>
            <a:ext cx="347472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Result summary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Viral reaches the largest and earliest large outbreak.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Moderate still spreads, but more slowly and less strongly.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Fizzle stays close to the initial seed and never develops into a cascade.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6. Comparison of Sharer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The main result figure for peer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pic>
        <p:nvPicPr>
          <p:cNvPr id="6" name="Picture 5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223760" cy="3867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9788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626E"/>
                </a:solidFill>
              </a:defRPr>
            </a:pPr>
            <a:r>
              <a:t>Figure: Active sharers S(t) for viral, moderate, and fizzle scenarios.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474720" cy="4480560"/>
          </a:xfrm>
          <a:prstGeom prst="roundRect">
            <a:avLst/>
          </a:prstGeom>
          <a:solidFill>
            <a:srgbClr val="E8F0FE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Interpretation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The three scenarios separate clearly.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Higher effective spread creates a larger and earlier peak.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Weak spread leaves the system close to the initial condition.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This figure directly supports the project's main comparative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7. Exposure-Class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Why the multi-exposure structure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pic>
        <p:nvPicPr>
          <p:cNvPr id="6" name="Picture 5" descr="exposure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223760" cy="3867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9788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626E"/>
                </a:solidFill>
              </a:defRPr>
            </a:pPr>
            <a:r>
              <a:t>Figure: Viral scenario showing I0, I1, I2, S, and R over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474720" cy="4480560"/>
          </a:xfrm>
          <a:prstGeom prst="roundRect">
            <a:avLst/>
          </a:prstGeom>
          <a:solidFill>
            <a:srgbClr val="FFF7EB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Interpretation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Users leave I0 and move through higher exposure classes.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Some eventually join S, while others end in R.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This makes the reinforcement mechanism visible in a way a one-step model cannot.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8. Sensitivity to Gamma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How sharer decay changes the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pic>
        <p:nvPicPr>
          <p:cNvPr id="6" name="Picture 5" descr="sensitivity_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223760" cy="3867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9788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626E"/>
                </a:solidFill>
              </a:defRPr>
            </a:pPr>
            <a:r>
              <a:t>Figure: Peak active sharers as gamma varies, with other parameters fixed.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474720" cy="4480560"/>
          </a:xfrm>
          <a:prstGeom prst="roundRect">
            <a:avLst/>
          </a:prstGeom>
          <a:solidFill>
            <a:srgbClr val="E8F5E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Interpretation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Gamma measures how quickly current sharers stop being active.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As gamma increases, the peak drops sharply.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In plain language: if attention fades faster, the post is much less likely to spread widely.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9. What Still Needs To Be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Included explicitly to match the presentation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223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02731"/>
                </a:solidFill>
              </a:defRPr>
            </a:pPr>
            <a:r>
              <a:t>Refine the equilibrium and stability discussion in the written report.</a:t>
            </a:r>
          </a:p>
          <a:p>
            <a:pPr>
              <a:spcAft>
                <a:spcPts val="1200"/>
              </a:spcAft>
              <a:defRPr sz="2100">
                <a:solidFill>
                  <a:srgbClr val="202731"/>
                </a:solidFill>
              </a:defRPr>
            </a:pPr>
            <a:r>
              <a:t>Present the Jacobian analysis more cleanly and tie it more directly to the simulations.</a:t>
            </a:r>
          </a:p>
          <a:p>
            <a:pPr>
              <a:spcAft>
                <a:spcPts val="1200"/>
              </a:spcAft>
              <a:defRPr sz="2100">
                <a:solidFill>
                  <a:srgbClr val="202731"/>
                </a:solidFill>
              </a:defRPr>
            </a:pPr>
            <a:r>
              <a:t>Extend sensitivity analysis for gamma, rho_i, and sigma_i.</a:t>
            </a:r>
          </a:p>
          <a:p>
            <a:pPr>
              <a:spcAft>
                <a:spcPts val="1200"/>
              </a:spcAft>
              <a:defRPr sz="2100">
                <a:solidFill>
                  <a:srgbClr val="202731"/>
                </a:solidFill>
              </a:defRPr>
            </a:pPr>
            <a:r>
              <a:t>Strengthen the written discussion of figures and improve figure captions.</a:t>
            </a:r>
          </a:p>
          <a:p>
            <a:pPr>
              <a:spcAft>
                <a:spcPts val="1200"/>
              </a:spcAft>
              <a:defRPr sz="2100">
                <a:solidFill>
                  <a:srgbClr val="202731"/>
                </a:solidFill>
              </a:defRPr>
            </a:pPr>
            <a:r>
              <a:t>Tighten the interpretation connecting the mathematics to social-media behaviour.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47472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Current status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The model formulation is complete.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The main simulations and figures are complete.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Most remaining work is analysis, explanation, and polishing for the final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24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10. Conclusion and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EE6F5"/>
                </a:solidFill>
              </a:rPr>
              <a:t>A concise ending that leaves time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E"/>
                </a:solidFill>
              </a:defRPr>
            </a:pPr>
            <a:r>
              <a:t>MATH 4090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223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731"/>
                </a:solidFill>
              </a:defRPr>
            </a:pPr>
            <a:r>
              <a:t>Repeated exposure matters for repost behaviour.</a:t>
            </a:r>
          </a:p>
          <a:p>
            <a:pPr>
              <a:spcAft>
                <a:spcPts val="1200"/>
              </a:spcAft>
              <a:defRPr sz="2000">
                <a:solidFill>
                  <a:srgbClr val="202731"/>
                </a:solidFill>
              </a:defRPr>
            </a:pPr>
            <a:r>
              <a:t>A multi-exposure ODE model can produce viral, moderate, and fizzle outcomes within one framework.</a:t>
            </a:r>
          </a:p>
          <a:p>
            <a:pPr>
              <a:spcAft>
                <a:spcPts val="1200"/>
              </a:spcAft>
              <a:defRPr sz="2000">
                <a:solidFill>
                  <a:srgbClr val="202731"/>
                </a:solidFill>
              </a:defRPr>
            </a:pPr>
            <a:r>
              <a:t>The balance among beta, gamma, rho_i, and sigma_i determines whether content grows or dies out.</a:t>
            </a:r>
          </a:p>
          <a:p>
            <a:pPr>
              <a:spcAft>
                <a:spcPts val="1200"/>
              </a:spcAft>
              <a:defRPr sz="2000">
                <a:solidFill>
                  <a:srgbClr val="202731"/>
                </a:solidFill>
              </a:defRPr>
            </a:pPr>
            <a:r>
              <a:t>The model is simple enough to analyze, but rich enough to capture reinforcement before sharing.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474720" cy="4480560"/>
          </a:xfrm>
          <a:prstGeom prst="roundRect">
            <a:avLst/>
          </a:prstGeom>
          <a:solidFill>
            <a:srgbClr val="E8F0FE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24079"/>
                </a:solidFill>
              </a:defRPr>
            </a:pPr>
            <a:r>
              <a:t>Likely Q&amp;A themes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Why not use a network model?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Why is I0 = N at equilibrium but not in simulations?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What do rho_i and sigma_i mean in social-media terms?</a:t>
            </a:r>
          </a:p>
          <a:p>
            <a:pPr>
              <a:spcAft>
                <a:spcPts val="800"/>
              </a:spcAft>
              <a:defRPr sz="1500">
                <a:solidFill>
                  <a:srgbClr val="202731"/>
                </a:solidFill>
              </a:defRPr>
            </a:pPr>
            <a:r>
              <a:t>What does the Jacobian tell us, and what does it not tell 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